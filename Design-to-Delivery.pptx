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8" d="100"/>
          <a:sy n="98" d="100"/>
        </p:scale>
        <p:origin x="36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1224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498080" y="-457200"/>
            <a:ext cx="3657600" cy="6400800"/>
          </a:xfrm>
          <a:prstGeom prst="rect">
            <a:avLst/>
          </a:prstGeom>
          <a:solidFill>
            <a:srgbClr val="003087">
              <a:alpha val="45000"/>
            </a:srgbClr>
          </a:solidFill>
          <a:ln w="12700">
            <a:solidFill>
              <a:srgbClr val="00308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Design-to-Delivery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93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 Challenge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24028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Intelligence Engine for brand-consistent,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web delivery at scale </a:t>
            </a:r>
            <a:r>
              <a:rPr lang="en-US" sz="1400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data science</a:t>
            </a:r>
            <a:r>
              <a:rPr lang="en-US" sz="140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0" y="20116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" y="4480560"/>
            <a:ext cx="8229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by Bhanuja Kumar ·  University of Liverpool  · CXI+AI ·  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54864" cy="50292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Real Problem Pfizer Faces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56692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 1 — Insight &amp; Problem Understanding 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22860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914400"/>
            <a:ext cx="2286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02920" y="104241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2,000+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49961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websites to manage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926080" y="914400"/>
            <a:ext cx="22860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926080" y="914400"/>
            <a:ext cx="2286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063240" y="104241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063240" y="149961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countries, each with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variations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31720"/>
            <a:ext cx="22860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65760" y="2331720"/>
            <a:ext cx="2286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" y="24597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02920" y="291693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launch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new page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926080" y="2331720"/>
            <a:ext cx="22860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2926080" y="2331720"/>
            <a:ext cx="2286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063240" y="24597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3063240" y="291693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review,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by slide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77840" y="950976"/>
            <a:ext cx="3291840" cy="3785616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577840" y="896112"/>
            <a:ext cx="3291840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715000" y="10058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Gap 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715000" y="1389888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89320" y="1389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sent to LLMs with no quality signal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15000" y="1883664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89320" y="188366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output — not audience or market specific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715000" y="237744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989320" y="23774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checked after generation, not before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715000" y="287121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89320" y="287121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 — humans can't explain AI decisions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715000" y="336499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989320" y="33649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drift across 80 markets with no measurement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577840" y="4133088"/>
            <a:ext cx="3291840" cy="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5724144" y="4128517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4A627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These gaps compound at 2,000+ sites.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4A627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cost is inconsistency, risk, and wasted human review time.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1A4D"/>
          </a:solidFill>
          <a:ln w="12700">
            <a:solidFill>
              <a:srgbClr val="001A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University of Liverpool Hackathon  ·  Design-to-Delivery Accelerator  ·  Insight &amp; Problem Understanding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9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 the prompt as a signal,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50392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93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string.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35331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LLM sees a brief, a data-science pipeline classifies, scores and enriches it — so what goes in is already intelligent.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1463040" cy="1417320"/>
          </a:xfrm>
          <a:prstGeom prst="rect">
            <a:avLst/>
          </a:prstGeom>
          <a:solidFill>
            <a:srgbClr val="003087"/>
          </a:solidFill>
          <a:ln w="6350">
            <a:solidFill>
              <a:srgbClr val="003087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21208" y="1993392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21208" y="2706624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input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38528" y="2587752"/>
            <a:ext cx="201168" cy="36576"/>
          </a:xfrm>
          <a:prstGeom prst="rect">
            <a:avLst/>
          </a:prstGeom>
          <a:solidFill>
            <a:srgbClr val="B0BFD0"/>
          </a:solidFill>
          <a:ln w="12700">
            <a:solidFill>
              <a:srgbClr val="B0BF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066544" y="2514600"/>
            <a:ext cx="128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76272" y="1920240"/>
            <a:ext cx="1463040" cy="1691640"/>
          </a:xfrm>
          <a:prstGeom prst="rect">
            <a:avLst/>
          </a:prstGeom>
          <a:solidFill>
            <a:srgbClr val="0093D0"/>
          </a:solidFill>
          <a:ln w="6350">
            <a:solidFill>
              <a:srgbClr val="0093D0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176272" y="1920240"/>
            <a:ext cx="146304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2240280" y="2029968"/>
            <a:ext cx="1335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Intelligence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40280" y="2980944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1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classifiers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0" y="2587752"/>
            <a:ext cx="201168" cy="36576"/>
          </a:xfrm>
          <a:prstGeom prst="rect">
            <a:avLst/>
          </a:prstGeom>
          <a:solidFill>
            <a:srgbClr val="B0BFD0"/>
          </a:solidFill>
          <a:ln w="12700">
            <a:solidFill>
              <a:srgbClr val="B0BF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785616" y="2514600"/>
            <a:ext cx="128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895344" y="1920240"/>
            <a:ext cx="1463040" cy="1417320"/>
          </a:xfrm>
          <a:prstGeom prst="rect">
            <a:avLst/>
          </a:prstGeom>
          <a:solidFill>
            <a:srgbClr val="003087"/>
          </a:solidFill>
          <a:ln w="6350">
            <a:solidFill>
              <a:srgbClr val="003087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959352" y="1993392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Enriched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59352" y="2706624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context + flags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76672" y="2587752"/>
            <a:ext cx="201168" cy="36576"/>
          </a:xfrm>
          <a:prstGeom prst="rect">
            <a:avLst/>
          </a:prstGeom>
          <a:solidFill>
            <a:srgbClr val="B0BFD0"/>
          </a:solidFill>
          <a:ln w="12700">
            <a:solidFill>
              <a:srgbClr val="B0BF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504688" y="2514600"/>
            <a:ext cx="128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614416" y="1920240"/>
            <a:ext cx="1463040" cy="1417320"/>
          </a:xfrm>
          <a:prstGeom prst="rect">
            <a:avLst/>
          </a:prstGeom>
          <a:solidFill>
            <a:srgbClr val="003087"/>
          </a:solidFill>
          <a:ln w="6350">
            <a:solidFill>
              <a:srgbClr val="003087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678424" y="1993392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(Mistral/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78424" y="2706624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095744" y="2587752"/>
            <a:ext cx="201168" cy="36576"/>
          </a:xfrm>
          <a:prstGeom prst="rect">
            <a:avLst/>
          </a:prstGeom>
          <a:solidFill>
            <a:srgbClr val="B0BFD0"/>
          </a:solidFill>
          <a:ln w="12700">
            <a:solidFill>
              <a:srgbClr val="B0BF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7223760" y="2514600"/>
            <a:ext cx="128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333488" y="1920240"/>
            <a:ext cx="1463040" cy="1417320"/>
          </a:xfrm>
          <a:prstGeom prst="rect">
            <a:avLst/>
          </a:prstGeom>
          <a:solidFill>
            <a:srgbClr val="003087"/>
          </a:solidFill>
          <a:ln w="6350">
            <a:solidFill>
              <a:srgbClr val="003087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7397496" y="1993392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Scored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Brief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97496" y="2706624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output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D6EEF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This is where Data Science adds value — measurable, explainable, repeatable.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CXI+AI  ·  University of Liverpool Hackathon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54864" cy="50292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Prompt Intelligence Engine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56692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 2 — Creative Use of AI in the Web Design Lifecycle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5760" y="896112"/>
            <a:ext cx="5303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896112"/>
            <a:ext cx="457200" cy="713232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65760" y="896112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9692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 Classifier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122529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Detects: patient · HCP · internal · partner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 per class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11880" y="1143000"/>
            <a:ext cx="1266444" cy="201168"/>
          </a:xfrm>
          <a:prstGeom prst="roundRect">
            <a:avLst>
              <a:gd name="adj" fmla="val 2272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611880" y="1143000"/>
            <a:ext cx="12664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NLI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" y="1700784"/>
            <a:ext cx="5303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65760" y="1700784"/>
            <a:ext cx="457200" cy="713232"/>
          </a:xfrm>
          <a:prstGeom prst="rect">
            <a:avLst/>
          </a:prstGeom>
          <a:solidFill>
            <a:srgbClr val="0057A8"/>
          </a:solidFill>
          <a:ln w="12700">
            <a:solidFill>
              <a:srgbClr val="005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65760" y="1700784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2688" y="17739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Jurisdiction Detector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2688" y="20299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country → regulatory framework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EMA, FDA, MHRA, TGA, etc.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611880" y="1947672"/>
            <a:ext cx="1810512" cy="201168"/>
          </a:xfrm>
          <a:prstGeom prst="roundRect">
            <a:avLst>
              <a:gd name="adj" fmla="val 2272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611880" y="1947672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+ lookup table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2505456"/>
            <a:ext cx="5303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65760" y="2505456"/>
            <a:ext cx="457200" cy="713232"/>
          </a:xfrm>
          <a:prstGeom prst="rect">
            <a:avLst/>
          </a:prstGeom>
          <a:solidFill>
            <a:srgbClr val="A05C00"/>
          </a:solidFill>
          <a:ln w="12700">
            <a:solidFill>
              <a:srgbClr val="A05C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65760" y="2505456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 Risk Scorer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32688" y="28346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sensitive terms (clinical claims, pricing)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0–1 risk score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11880" y="2752344"/>
            <a:ext cx="1732788" cy="201168"/>
          </a:xfrm>
          <a:prstGeom prst="roundRect">
            <a:avLst>
              <a:gd name="adj" fmla="val 2272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611880" y="2752344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classification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5303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365760" y="3310128"/>
            <a:ext cx="457200" cy="713232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365760" y="3310128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2688" y="3383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Brand Tone Analyser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32688" y="36393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vs Pfizer approved copy corpus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score 0–1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611880" y="3557016"/>
            <a:ext cx="1888236" cy="201168"/>
          </a:xfrm>
          <a:prstGeom prst="roundRect">
            <a:avLst>
              <a:gd name="adj" fmla="val 2272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611880" y="3557016"/>
            <a:ext cx="18882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303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65760" y="4114800"/>
            <a:ext cx="457200" cy="71323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365760" y="4114800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32688" y="4187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Readability Predictor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2688" y="4443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Flesch-Kincaid grade before generation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Adjusts prompt accordingly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11880" y="4361688"/>
            <a:ext cx="877824" cy="201168"/>
          </a:xfrm>
          <a:prstGeom prst="roundRect">
            <a:avLst>
              <a:gd name="adj" fmla="val 2272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3611880" y="436168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textstat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897880" y="868680"/>
            <a:ext cx="292608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5897880" y="868680"/>
            <a:ext cx="292608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6035040" y="9784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Engine Output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035040" y="12618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i="1" dirty="0">
                <a:solidFill>
                  <a:srgbClr val="4A627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Input: "page for our oncology drug for doctors in Germany"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035040" y="1728216"/>
            <a:ext cx="36576" cy="292608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2648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242048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93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HCP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35040" y="2221992"/>
            <a:ext cx="36576" cy="292608"/>
          </a:xfrm>
          <a:prstGeom prst="rect">
            <a:avLst/>
          </a:prstGeom>
          <a:solidFill>
            <a:srgbClr val="0057A8"/>
          </a:solidFill>
          <a:ln w="12700">
            <a:solidFill>
              <a:srgbClr val="005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6126480" y="21854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242048" y="21854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5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→ EMA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35040" y="2715768"/>
            <a:ext cx="36576" cy="29260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6126480" y="26791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242048" y="2679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B9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0.87 HIGH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035040" y="3209544"/>
            <a:ext cx="36576" cy="292608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6126480" y="31729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Tone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242048" y="31729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87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Clinical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035040" y="3703320"/>
            <a:ext cx="36576" cy="2926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6126480" y="366674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Grade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242048" y="366674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(HCP: ✓)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035040" y="4197096"/>
            <a:ext cx="36576" cy="29260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6126480" y="4160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Score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7242048" y="4160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308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 / 100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451713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4A627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decision is logged. No opaque scoring.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1A4D"/>
          </a:solidFill>
          <a:ln w="12700">
            <a:solidFill>
              <a:srgbClr val="001A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University of Liverpool Hackathon  ·  Design-to-Delivery Accelerator  ·  Creative Use of AI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54864" cy="50292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56692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 3 — Technical Execution &amp; Integration  ·  10 pts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896112"/>
            <a:ext cx="781682" cy="672084"/>
          </a:xfrm>
          <a:prstGeom prst="rect">
            <a:avLst/>
          </a:prstGeom>
          <a:solidFill>
            <a:srgbClr val="4A6278"/>
          </a:solidFill>
          <a:ln w="6350">
            <a:solidFill>
              <a:srgbClr val="4A6278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274319" y="896112"/>
            <a:ext cx="807823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Brief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82143" y="987552"/>
            <a:ext cx="135751" cy="508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61888" y="896112"/>
            <a:ext cx="905011" cy="672084"/>
          </a:xfrm>
          <a:prstGeom prst="rect">
            <a:avLst/>
          </a:prstGeom>
          <a:solidFill>
            <a:srgbClr val="0093D0"/>
          </a:solidFill>
          <a:ln w="6350">
            <a:solidFill>
              <a:srgbClr val="0093D0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251191" y="926848"/>
            <a:ext cx="926175" cy="599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</a:t>
            </a:r>
            <a:endParaRPr lang="en-US" sz="9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Intelligence</a:t>
            </a:r>
            <a:endParaRPr lang="en-US" sz="9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41435" y="987552"/>
            <a:ext cx="135751" cy="508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403107" y="896112"/>
            <a:ext cx="905011" cy="672084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457971" y="896112"/>
            <a:ext cx="814509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Enriched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341943" y="987552"/>
            <a:ext cx="135751" cy="508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95931" y="896112"/>
            <a:ext cx="905011" cy="672084"/>
          </a:xfrm>
          <a:prstGeom prst="rect">
            <a:avLst/>
          </a:prstGeom>
          <a:solidFill>
            <a:srgbClr val="0057A8"/>
          </a:solidFill>
          <a:ln w="6350">
            <a:solidFill>
              <a:srgbClr val="0057A8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543111" y="896112"/>
            <a:ext cx="814509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LLM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(Local /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65503" y="987552"/>
            <a:ext cx="135751" cy="508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634859" y="896112"/>
            <a:ext cx="905011" cy="672084"/>
          </a:xfrm>
          <a:prstGeom prst="rect">
            <a:avLst/>
          </a:prstGeom>
          <a:solidFill>
            <a:srgbClr val="00875A"/>
          </a:solidFill>
          <a:ln w="6350">
            <a:solidFill>
              <a:srgbClr val="00875A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689723" y="896112"/>
            <a:ext cx="814509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Brief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589063" y="987552"/>
            <a:ext cx="135751" cy="508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35367" y="896112"/>
            <a:ext cx="905011" cy="672084"/>
          </a:xfrm>
          <a:prstGeom prst="rect">
            <a:avLst/>
          </a:prstGeom>
          <a:solidFill>
            <a:srgbClr val="003087"/>
          </a:solidFill>
          <a:ln w="6350">
            <a:solidFill>
              <a:srgbClr val="003087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790231" y="896112"/>
            <a:ext cx="814509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Preview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712623" y="987552"/>
            <a:ext cx="135751" cy="508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74295" y="896112"/>
            <a:ext cx="905011" cy="672084"/>
          </a:xfrm>
          <a:prstGeom prst="rect">
            <a:avLst/>
          </a:prstGeom>
          <a:solidFill>
            <a:srgbClr val="A05C00"/>
          </a:solidFill>
          <a:ln w="6350">
            <a:solidFill>
              <a:srgbClr val="A05C00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929159" y="896112"/>
            <a:ext cx="814509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Score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28499" y="987552"/>
            <a:ext cx="135751" cy="508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05539" y="896112"/>
            <a:ext cx="905011" cy="672084"/>
          </a:xfrm>
          <a:prstGeom prst="rect">
            <a:avLst/>
          </a:prstGeom>
          <a:solidFill>
            <a:srgbClr val="001A4D"/>
          </a:solidFill>
          <a:ln w="6350">
            <a:solidFill>
              <a:srgbClr val="001A4D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8060403" y="896112"/>
            <a:ext cx="814509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Audit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2011680"/>
            <a:ext cx="420624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65760" y="2011680"/>
            <a:ext cx="4206240" cy="64008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Local Stack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0352" y="2487168"/>
            <a:ext cx="64008" cy="64008"/>
          </a:xfrm>
          <a:prstGeom prst="ellipse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658368" y="24277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 — embeddings &amp; similarity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30352" y="2830068"/>
            <a:ext cx="64008" cy="64008"/>
          </a:xfrm>
          <a:prstGeom prst="ellipse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658368" y="27706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(zero-shot) — audience + risk classification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30352" y="3172968"/>
            <a:ext cx="64008" cy="64008"/>
          </a:xfrm>
          <a:prstGeom prst="ellipse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658368" y="31135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textstat — Flesch-Kincaid readability scoring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0352" y="3515868"/>
            <a:ext cx="64008" cy="64008"/>
          </a:xfrm>
          <a:prstGeom prst="ellipse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658368" y="34564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— vector store for RAG context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30352" y="3858768"/>
            <a:ext cx="64008" cy="64008"/>
          </a:xfrm>
          <a:prstGeom prst="ellipse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58368" y="37993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+ Mistral 7B — local LLM inference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0352" y="4201668"/>
            <a:ext cx="64008" cy="64008"/>
          </a:xfrm>
          <a:prstGeom prst="ellipse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658368" y="41422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+ CORS — lightweight Python API proxy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846320" y="2011680"/>
            <a:ext cx="420624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788834" y="1945059"/>
            <a:ext cx="4206240" cy="64008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01091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Architecture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010912" y="2487168"/>
            <a:ext cx="64008" cy="64008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5138928" y="24277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100% offline — no API costs, no data leaves device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10912" y="2830068"/>
            <a:ext cx="64008" cy="64008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5138928" y="27706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LLM in one config line (Mistral → Claude → Gemini)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10912" y="3172968"/>
            <a:ext cx="64008" cy="64008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5138928" y="31135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layer injects brand rules without fine-tuning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010912" y="3515868"/>
            <a:ext cx="64008" cy="64008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5138928" y="34564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classifier module is independent — testable, replaceable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010912" y="3858768"/>
            <a:ext cx="64008" cy="64008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5138928" y="37993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generated automatically on every brief run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010912" y="4201668"/>
            <a:ext cx="64008" cy="64008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5138928" y="41422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HTML file — opens in any browser, no install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1A4D"/>
          </a:solidFill>
          <a:ln w="12700">
            <a:solidFill>
              <a:srgbClr val="001A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University of Liverpool Hackathon  ·  Design-to-Delivery Accelerator  ·  Technical Execution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54864" cy="50292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Trust, Compliance &amp; Explainability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56692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 4 — Trust, Compliance &amp; Explainability 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2514600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914400"/>
            <a:ext cx="2514600" cy="64008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02920" y="10607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score has a reason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3716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0.87 because: keyword 'oncology drug' detected + jurisdiction Germany → EMA Directive 2001/83/EC applies. Not just a number — a traceable chain.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914400"/>
            <a:ext cx="2514600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154680" y="914400"/>
            <a:ext cx="2514600" cy="64008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291840" y="10607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review gates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13716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prompts (score &gt; 0.75) are flagged before the LLM runs. Humans confirm or override. The AI suggests — humans decide.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514600"/>
            <a:ext cx="2514600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65760" y="2514600"/>
            <a:ext cx="251460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" y="26609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built 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9718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brief run logs: timestamp, classifier outputs, prompt version, LLM used, review decisions. 2,000 sites × accountability = governance that scales.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154680" y="2514600"/>
            <a:ext cx="2514600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154680" y="2514600"/>
            <a:ext cx="2514600" cy="64008"/>
          </a:xfrm>
          <a:prstGeom prst="rect">
            <a:avLst/>
          </a:prstGeom>
          <a:solidFill>
            <a:srgbClr val="A05C00"/>
          </a:solidFill>
          <a:ln w="12700">
            <a:solidFill>
              <a:srgbClr val="A05C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291840" y="266090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threshold, explained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91840" y="29718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 below 90% score are blocked, with specific recommendations: not 'failed' but 'here is the exact change needed and why it matters.'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0" y="896112"/>
            <a:ext cx="28803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943600" y="896112"/>
            <a:ext cx="2880360" cy="6400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080760" y="1005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Regulatory Coverage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0" y="1371600"/>
            <a:ext cx="2880360" cy="411480"/>
          </a:xfrm>
          <a:prstGeom prst="rect">
            <a:avLst/>
          </a:prstGeom>
          <a:solidFill>
            <a:srgbClr val="003087"/>
          </a:solidFill>
          <a:ln w="381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053328" y="142646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Jurisdiction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114032" y="142646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49732" y="1426464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Auto-detected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43600" y="1810512"/>
            <a:ext cx="288036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6053328" y="1865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(Germany)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114032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 Dir. 2001/83/EC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302752" y="186537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2249424"/>
            <a:ext cx="2880360" cy="411480"/>
          </a:xfrm>
          <a:prstGeom prst="rect">
            <a:avLst/>
          </a:prstGeom>
          <a:solidFill>
            <a:srgbClr val="EEF2F7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053328" y="230428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114032" y="230428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302752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43600" y="2688336"/>
            <a:ext cx="288036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053328" y="27432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114032" y="27432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MHRA/ABPI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302752" y="27432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943600" y="3127248"/>
            <a:ext cx="2880360" cy="411480"/>
          </a:xfrm>
          <a:prstGeom prst="rect">
            <a:avLst/>
          </a:prstGeom>
          <a:solidFill>
            <a:srgbClr val="EEF2F7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6053328" y="31821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114032" y="318211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302752" y="318211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3566160"/>
            <a:ext cx="288036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053328" y="36210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114032" y="362102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302752" y="362102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943600" y="4005072"/>
            <a:ext cx="2880360" cy="411480"/>
          </a:xfrm>
          <a:prstGeom prst="rect">
            <a:avLst/>
          </a:prstGeom>
          <a:solidFill>
            <a:srgbClr val="EEF2F7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6053328" y="40599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markets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114032" y="40599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302752" y="405993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1A4D"/>
          </a:solidFill>
          <a:ln w="12700">
            <a:solidFill>
              <a:srgbClr val="001A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University of Liverpool Hackathon  ·  Design-to-Delivery Accelerator  ·  Trust &amp; Explainability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54864" cy="50292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Experience &amp; Workflow Clarity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56692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 5 — UX &amp; Workflow Clarity 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12344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868680"/>
            <a:ext cx="1234440" cy="438912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65760" y="86868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" y="137160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0624" y="1664208"/>
            <a:ext cx="1124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workspace</a:t>
            </a:r>
            <a:endParaRPr lang="en-US" sz="8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country context loaded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600200" y="14630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783080" y="868680"/>
            <a:ext cx="12344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783080" y="868680"/>
            <a:ext cx="1234440" cy="438912"/>
          </a:xfrm>
          <a:prstGeom prst="rect">
            <a:avLst/>
          </a:prstGeom>
          <a:solidFill>
            <a:srgbClr val="0057A8"/>
          </a:solidFill>
          <a:ln w="12700">
            <a:solidFill>
              <a:srgbClr val="005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783080" y="86868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37944" y="137160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Preliminary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37944" y="1664208"/>
            <a:ext cx="1124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type, audience,</a:t>
            </a:r>
            <a:endParaRPr lang="en-US" sz="8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region, language — one click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017520" y="14630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00400" y="868680"/>
            <a:ext cx="12344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0" y="868680"/>
            <a:ext cx="1234440" cy="43891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200400" y="86868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255264" y="137160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Brief + PIE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55264" y="1664208"/>
            <a:ext cx="1124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prompt → Engine runs</a:t>
            </a:r>
            <a:endParaRPr lang="en-US" sz="8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classifiers in &lt;2 seconds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434840" y="14630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17720" y="868680"/>
            <a:ext cx="12344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617720" y="868680"/>
            <a:ext cx="1234440" cy="438912"/>
          </a:xfrm>
          <a:prstGeom prst="rect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617720" y="86868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672584" y="137160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72584" y="1664208"/>
            <a:ext cx="1124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Auto-populated layouts</a:t>
            </a:r>
            <a:endParaRPr lang="en-US" sz="8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Editable, char-counted sections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852160" y="14630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035040" y="868680"/>
            <a:ext cx="12344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6035040" y="868680"/>
            <a:ext cx="1234440" cy="438912"/>
          </a:xfrm>
          <a:prstGeom prst="rect">
            <a:avLst/>
          </a:prstGeom>
          <a:solidFill>
            <a:srgbClr val="A05C00"/>
          </a:solidFill>
          <a:ln w="12700">
            <a:solidFill>
              <a:srgbClr val="A05C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035040" y="86868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089904" y="137160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089904" y="1664208"/>
            <a:ext cx="1124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threshold · Accept/decline</a:t>
            </a:r>
            <a:endParaRPr lang="en-US" sz="8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preview with highlights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269480" y="14630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B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52360" y="868680"/>
            <a:ext cx="12344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7452360" y="868680"/>
            <a:ext cx="1234440" cy="438912"/>
          </a:xfrm>
          <a:prstGeom prst="rect">
            <a:avLst/>
          </a:prstGeom>
          <a:solidFill>
            <a:srgbClr val="001A4D"/>
          </a:solidFill>
          <a:ln w="12700">
            <a:solidFill>
              <a:srgbClr val="001A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7452360" y="86868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7507224" y="137160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507224" y="1664208"/>
            <a:ext cx="1124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T&amp;Cs · Locked after send</a:t>
            </a:r>
            <a:endParaRPr lang="en-US" sz="8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 to reviewer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2971800"/>
            <a:ext cx="8412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365760" y="2971800"/>
            <a:ext cx="8412480" cy="6400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548640" y="30815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Designed for multiple roles — one interface, clear workflow for each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8640" y="3429000"/>
            <a:ext cx="1344168" cy="201168"/>
          </a:xfrm>
          <a:prstGeom prst="roundRect">
            <a:avLst>
              <a:gd name="adj" fmla="val 22727"/>
            </a:avLst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548640" y="3429000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Author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48640" y="3703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prompt → brief built automatically. No technical skill required.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651760" y="3429000"/>
            <a:ext cx="877824" cy="201168"/>
          </a:xfrm>
          <a:prstGeom prst="roundRect">
            <a:avLst>
              <a:gd name="adj" fmla="val 22727"/>
            </a:avLst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2651760" y="3429000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51760" y="3703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Canva-style layout templates. Live editable canvas with char counts.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754880" y="3429000"/>
            <a:ext cx="1421892" cy="201168"/>
          </a:xfrm>
          <a:prstGeom prst="roundRect">
            <a:avLst>
              <a:gd name="adj" fmla="val 22727"/>
            </a:avLst>
          </a:prstGeom>
          <a:solidFill>
            <a:srgbClr val="A05C00"/>
          </a:solidFill>
          <a:ln w="12700">
            <a:solidFill>
              <a:srgbClr val="A05C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754880" y="3429000"/>
            <a:ext cx="1421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Compliance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754880" y="3703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 with pass/fail + specific fix recommendations. 90% gate.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858000" y="3429000"/>
            <a:ext cx="1110996" cy="201168"/>
          </a:xfrm>
          <a:prstGeom prst="roundRect">
            <a:avLst>
              <a:gd name="adj" fmla="val 22727"/>
            </a:avLst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6858000" y="3429000"/>
            <a:ext cx="11109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Reviewer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858000" y="3703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locked after send. Audit trail. Email notification. No chasing.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1A4D"/>
          </a:solidFill>
          <a:ln w="12700">
            <a:solidFill>
              <a:srgbClr val="001A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University of Liverpool Hackathon  ·  Design-to-Delivery Accelerator  ·  UX &amp; Workflow Clarity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54864" cy="50292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12064" y="256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1A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Science Advantage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56692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difference?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5760" y="896112"/>
            <a:ext cx="502920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896112"/>
            <a:ext cx="5029200" cy="6400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65760" y="1051560"/>
            <a:ext cx="5029200" cy="365760"/>
          </a:xfrm>
          <a:prstGeom prst="rect">
            <a:avLst/>
          </a:prstGeom>
          <a:solidFill>
            <a:srgbClr val="003087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75488" y="1097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011680" y="1097280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 Submission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39312" y="10972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Submission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5760" y="1435608"/>
            <a:ext cx="50292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75488" y="14813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handling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11680" y="148132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→ LLM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39312" y="14813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→ Classifier → LLM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55264" y="1572768"/>
            <a:ext cx="91440" cy="91440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65760" y="1819656"/>
            <a:ext cx="5029200" cy="365760"/>
          </a:xfrm>
          <a:prstGeom prst="rect">
            <a:avLst/>
          </a:prstGeom>
          <a:solidFill>
            <a:srgbClr val="EEF2F7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75488" y="18653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check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11680" y="186537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generation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39312" y="186537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generation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55264" y="1956816"/>
            <a:ext cx="91440" cy="91440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65760" y="2203704"/>
            <a:ext cx="50292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75488" y="22494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explanation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11680" y="22494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 number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39312" y="224942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confidence + reason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55264" y="2340864"/>
            <a:ext cx="91440" cy="91440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365760" y="2587752"/>
            <a:ext cx="5029200" cy="365760"/>
          </a:xfrm>
          <a:prstGeom prst="rect">
            <a:avLst/>
          </a:prstGeom>
          <a:solidFill>
            <a:srgbClr val="EEF2F7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75488" y="2633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detection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011680" y="2633472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/ assumed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39312" y="263347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NLI (0.94 conf.)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55264" y="2724912"/>
            <a:ext cx="91440" cy="91440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365760" y="2971800"/>
            <a:ext cx="50292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75488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Readability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011680" y="3017520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39312" y="30175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(textstat, FK grade)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55264" y="3108960"/>
            <a:ext cx="91440" cy="91440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365760" y="3355848"/>
            <a:ext cx="5029200" cy="365760"/>
          </a:xfrm>
          <a:prstGeom prst="rect">
            <a:avLst/>
          </a:prstGeom>
          <a:solidFill>
            <a:srgbClr val="EEF2F7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475488" y="34015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011680" y="34015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handled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639312" y="34015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Auto-mapped to regulatory body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55264" y="3493008"/>
            <a:ext cx="91440" cy="91440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365760" y="3739896"/>
            <a:ext cx="50292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475488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011680" y="3785616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37856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log, every decision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5264" y="3877056"/>
            <a:ext cx="91440" cy="91440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365760" y="4123944"/>
            <a:ext cx="5029200" cy="365760"/>
          </a:xfrm>
          <a:prstGeom prst="rect">
            <a:avLst/>
          </a:prstGeom>
          <a:solidFill>
            <a:srgbClr val="EEF2F7"/>
          </a:solidFill>
          <a:ln w="381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475488" y="41696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used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011680" y="416966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6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639312" y="41696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 + embeddings + RAG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55264" y="4261104"/>
            <a:ext cx="91440" cy="91440"/>
          </a:xfrm>
          <a:prstGeom prst="ellipse">
            <a:avLst/>
          </a:prstGeom>
          <a:solidFill>
            <a:srgbClr val="00875A"/>
          </a:solidFill>
          <a:ln w="12700">
            <a:solidFill>
              <a:srgbClr val="0087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5623560" y="896112"/>
            <a:ext cx="3200400" cy="3566160"/>
          </a:xfrm>
          <a:prstGeom prst="rect">
            <a:avLst/>
          </a:prstGeom>
          <a:solidFill>
            <a:srgbClr val="001A4D"/>
          </a:solidFill>
          <a:ln w="6350">
            <a:solidFill>
              <a:srgbClr val="001A4D"/>
            </a:solidFill>
            <a:prstDash val="solid"/>
          </a:ln>
          <a:effectLst>
            <a:outerShdw blurRad="101600" dist="38100" dir="8100000" algn="bl" rotWithShape="0">
              <a:srgbClr val="001A4D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5760720" y="1005840"/>
            <a:ext cx="29260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D6EEF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"Most tools treat the prompt as a string.</a:t>
            </a:r>
            <a:endParaRPr lang="en-US" sz="1000" dirty="0"/>
          </a:p>
          <a:p>
            <a:pPr marL="0" indent="0" algn="ctr">
              <a:lnSpc>
                <a:spcPct val="145000"/>
              </a:lnSpc>
              <a:buNone/>
            </a:pPr>
            <a:endParaRPr lang="en-US" sz="10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D6EEF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treat it as a signal.</a:t>
            </a:r>
            <a:endParaRPr lang="en-US" sz="1000" dirty="0"/>
          </a:p>
          <a:p>
            <a:pPr marL="0" indent="0" algn="ctr">
              <a:lnSpc>
                <a:spcPct val="145000"/>
              </a:lnSpc>
              <a:buNone/>
            </a:pPr>
            <a:endParaRPr lang="en-US" sz="10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D6EEF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Before any LLM sees a brief, our pipeline classifies audience, jurisdiction, risk, tone and readability -- with confidence scores and audit trails.</a:t>
            </a:r>
            <a:endParaRPr lang="en-US" sz="1000" dirty="0"/>
          </a:p>
          <a:p>
            <a:pPr marL="0" indent="0" algn="ctr">
              <a:lnSpc>
                <a:spcPct val="145000"/>
              </a:lnSpc>
              <a:buNone/>
            </a:pPr>
            <a:endParaRPr lang="en-US" sz="100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D6EEF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LLM gets a better prompt. The output is consistent. Compliance teams have evidence, not hope.</a:t>
            </a:r>
            <a:endParaRPr lang="en-US" sz="1000" dirty="0"/>
          </a:p>
          <a:p>
            <a:pPr algn="ctr">
              <a:lnSpc>
                <a:spcPct val="145000"/>
              </a:lnSpc>
            </a:pPr>
            <a:r>
              <a:rPr lang="en-US" sz="1000" i="1" dirty="0">
                <a:solidFill>
                  <a:srgbClr val="D6EEF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That's data science applied to the governance problem at scale."</a:t>
            </a:r>
            <a:endParaRPr lang="en-US" sz="1000" dirty="0"/>
          </a:p>
          <a:p>
            <a:pPr marL="0" indent="0">
              <a:lnSpc>
                <a:spcPct val="145000"/>
              </a:lnSpc>
              <a:buNone/>
            </a:pP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1A4D"/>
          </a:solidFill>
          <a:ln w="12700">
            <a:solidFill>
              <a:srgbClr val="001A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D6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University of Liverpool Hackathon  ·  Design-to-Delivery Accelerator  ·  Data Science Advantage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</TotalTime>
  <Words>1118</Words>
  <Application>Microsoft Office PowerPoint</Application>
  <PresentationFormat>On-screen Show (16:9)</PresentationFormat>
  <Paragraphs>263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Design-to-Delivery Accelerator — Pfizer CXI+AI</dc:title>
  <dc:subject>PptxGenJS Presentation</dc:subject>
  <dc:creator>University of Liverpool Hackathon</dc:creator>
  <cp:lastModifiedBy>Kumar, Bhanuja</cp:lastModifiedBy>
  <cp:revision>8</cp:revision>
  <dcterms:created xsi:type="dcterms:W3CDTF">2026-03-14T17:51:49Z</dcterms:created>
  <dcterms:modified xsi:type="dcterms:W3CDTF">2026-03-15T00:20:50Z</dcterms:modified>
</cp:coreProperties>
</file>